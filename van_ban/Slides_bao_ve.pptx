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Apriori tự cài đặt</c:v>
                </c:pt>
              </c:strCache>
            </c:strRef>
          </c:tx>
          <c:spPr>
            <a:solidFill>
              <a:srgbClr val="1F5F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6%</c:v>
                  </c:pt>
                  <c:pt idx="1">
                    <c:v>4%</c:v>
                  </c:pt>
                  <c:pt idx="2">
                    <c:v>3%</c:v>
                  </c:pt>
                  <c:pt idx="3">
                    <c:v>2%</c:v>
                  </c:pt>
                  <c:pt idx="4">
                    <c:v>1,5%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0.15</c:v>
                </c:pt>
                <c:pt idx="1">
                  <c:v>0.27</c:v>
                </c:pt>
                <c:pt idx="2">
                  <c:v>0.62</c:v>
                </c:pt>
                <c:pt idx="3">
                  <c:v>1.6</c:v>
                </c:pt>
                <c:pt idx="4">
                  <c:v>3.04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Apriori mlxtend</c:v>
                </c:pt>
              </c:strCache>
            </c:strRef>
          </c:tx>
          <c:spPr>
            <a:solidFill>
              <a:srgbClr val="7FA8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6%</c:v>
                  </c:pt>
                  <c:pt idx="1">
                    <c:v>4%</c:v>
                  </c:pt>
                  <c:pt idx="2">
                    <c:v>3%</c:v>
                  </c:pt>
                  <c:pt idx="3">
                    <c:v>2%</c:v>
                  </c:pt>
                  <c:pt idx="4">
                    <c:v>1,5%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0.23</c:v>
                </c:pt>
                <c:pt idx="1">
                  <c:v>0.65</c:v>
                </c:pt>
                <c:pt idx="2">
                  <c:v>1.16</c:v>
                </c:pt>
                <c:pt idx="3">
                  <c:v>2.29</c:v>
                </c:pt>
                <c:pt idx="4">
                  <c:v>3.92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FP-Growth mlxtend</c:v>
                </c:pt>
              </c:strCache>
            </c:strRef>
          </c:tx>
          <c:spPr>
            <a:solidFill>
              <a:srgbClr val="E88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6%</c:v>
                  </c:pt>
                  <c:pt idx="1">
                    <c:v>4%</c:v>
                  </c:pt>
                  <c:pt idx="2">
                    <c:v>3%</c:v>
                  </c:pt>
                  <c:pt idx="3">
                    <c:v>2%</c:v>
                  </c:pt>
                  <c:pt idx="4">
                    <c:v>1,5%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0.39</c:v>
                </c:pt>
                <c:pt idx="1">
                  <c:v>0.66</c:v>
                </c:pt>
                <c:pt idx="2">
                  <c:v>1.01</c:v>
                </c:pt>
                <c:pt idx="3">
                  <c:v>2.37</c:v>
                </c:pt>
                <c:pt idx="4">
                  <c:v>3.16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A6B7A"/>
                    </a:solidFill>
                    <a:latin typeface="Arial"/>
                  </a:rPr>
                  <a:t>min_support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A6B7A"/>
                    </a:solidFill>
                    <a:latin typeface="Arial"/>
                  </a:rPr>
                  <a:t>giây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243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1F5FA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663440"/>
            <a:ext cx="4754880" cy="4754880"/>
          </a:xfrm>
          <a:prstGeom prst="ellipse">
            <a:avLst/>
          </a:prstGeom>
          <a:solidFill>
            <a:srgbClr val="E8833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704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CHUYÊN NGÀNH  •  ĐỀ TÀI 19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khai phá luật kết hợp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hành vi mua sắm của khách hàng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Mining  •  Apriori  •  FP-Growth  •  Online Retail (UCI)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5074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thực hiện:  [Họ tên sinh viên]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Lớp:  [Lớp]        Giảng viên hướng dẫn:  [Họ tên GVHD]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Toán - Tin  •  Trường ĐH Sư phạm - ĐH Đà Nẵng  •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4173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0" y="147218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 và mục tiêu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2350008"/>
            <a:ext cx="5212080" cy="0"/>
          </a:xfrm>
          <a:prstGeom prst="line">
            <a:avLst/>
          </a:prstGeom>
          <a:noFill/>
          <a:ln w="9525">
            <a:solidFill>
              <a:srgbClr val="DD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72200" y="14173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040880" y="147218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kết hợp và các độ đo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72200" y="2350008"/>
            <a:ext cx="5212080" cy="0"/>
          </a:xfrm>
          <a:prstGeom prst="line">
            <a:avLst/>
          </a:prstGeom>
          <a:noFill/>
          <a:ln w="9525">
            <a:solidFill>
              <a:srgbClr val="DD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24328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371600" y="267919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thuật toán: Brute-force, Apriori, FP-Growth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3557016"/>
            <a:ext cx="5212080" cy="0"/>
          </a:xfrm>
          <a:prstGeom prst="line">
            <a:avLst/>
          </a:prstGeom>
          <a:noFill/>
          <a:ln w="9525">
            <a:solidFill>
              <a:srgbClr val="DDE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624328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040880" y="267919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họa từng bước và kiểm chứng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72200" y="3557016"/>
            <a:ext cx="5212080" cy="0"/>
          </a:xfrm>
          <a:prstGeom prst="line">
            <a:avLst/>
          </a:prstGeom>
          <a:noFill/>
          <a:ln w="9525">
            <a:solidFill>
              <a:srgbClr val="DDE5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831336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371600" y="38862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nghiệm trên dữ liệu Online Retail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" y="4764024"/>
            <a:ext cx="5212080" cy="0"/>
          </a:xfrm>
          <a:prstGeom prst="line">
            <a:avLst/>
          </a:prstGeom>
          <a:noFill/>
          <a:ln w="9525">
            <a:solidFill>
              <a:srgbClr val="DDE5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3831336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040880" y="38862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khai phá và trực quan hóa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172200" y="4764024"/>
            <a:ext cx="5212080" cy="0"/>
          </a:xfrm>
          <a:prstGeom prst="line">
            <a:avLst/>
          </a:prstGeom>
          <a:noFill/>
          <a:ln w="9525">
            <a:solidFill>
              <a:srgbClr val="DD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038344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371600" y="509320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hiệu năng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02920" y="5971032"/>
            <a:ext cx="5212080" cy="0"/>
          </a:xfrm>
          <a:prstGeom prst="line">
            <a:avLst/>
          </a:prstGeom>
          <a:noFill/>
          <a:ln w="9525">
            <a:solidFill>
              <a:srgbClr val="DD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5038344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040880" y="509320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kinh doanh và kết luận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72200" y="5971032"/>
            <a:ext cx="5212080" cy="0"/>
          </a:xfrm>
          <a:prstGeom prst="line">
            <a:avLst/>
          </a:prstGeom>
          <a:noFill/>
          <a:ln w="9525">
            <a:solidFill>
              <a:srgbClr val="DDE5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503152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toán: từ hóa đơn đến hành vi mua sắm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đơn hàng là một “giỏ hàng” — dữ liệu khổng lồ đang ngủ yên trong hệ thống bán lẻ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E8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cốt lõi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thường mua những mặt hàng nào cùng nhau?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trả lời có giá trị trực tiếp cho:</a:t>
            </a:r>
            <a:endParaRPr lang="en-US" sz="1800" dirty="0"/>
          </a:p>
          <a:p>
            <a:pPr marL="152400" indent="-152400">
              <a:buSzPct val="100000"/>
              <a:buChar char="▸"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sản phẩm khi khách xem/mua một sản phẩm</a:t>
            </a:r>
            <a:endParaRPr lang="en-US" sz="1800" dirty="0"/>
          </a:p>
          <a:p>
            <a:pPr marL="152400" indent="-152400">
              <a:buSzPct val="100000"/>
              <a:buChar char="▸"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và khuyến mãi chéo giữa các nhóm hàng</a:t>
            </a:r>
            <a:endParaRPr lang="en-US" sz="1800" dirty="0"/>
          </a:p>
          <a:p>
            <a:pPr marL="152400" indent="-152400">
              <a:buSzPct val="100000"/>
              <a:buChar char="▸"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Trưng bày, sắp xếp sản phẩm liền kề</a:t>
            </a:r>
            <a:endParaRPr lang="en-US" sz="1800" dirty="0"/>
          </a:p>
          <a:p>
            <a:pPr marL="152400" indent="-152400">
              <a:buSzPct val="100000"/>
              <a:buChar char="▸"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tồn kho theo cụm sản phẩm liên quan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5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Nhưng với 541.909 dòng giao dịch và hàng nghìn mặt hàng, bài toán chỉ khả thi bằng thuật toán khai phá hiệu quả.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0" y="1463040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4F7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16093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75120" y="1847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thuật toán đã học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675120" y="22128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cài đặt hoàn chỉnh Brute-force và Apriori, chạy minh họa từng bước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4F7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31638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75120" y="34015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kỹ thuật chưa học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675120" y="37673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FP-Growth qua thư viện mlxtend, kiểm chứng chéo kết quả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4572000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4F7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47183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75120" y="49560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thật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75120" y="53218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phá 541.909 dòng giao dịch Online Retail (UCI), trực quan hóa, đề xuất ứng dụng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03152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kết hợp: quy luật “mua X thì mua thêm Y”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4206240" cy="914400"/>
          </a:xfrm>
          <a:prstGeom prst="roundRect">
            <a:avLst>
              <a:gd name="adj" fmla="val 7000"/>
            </a:avLst>
          </a:prstGeom>
          <a:solidFill>
            <a:srgbClr val="F4F7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17373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04088" y="19933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Chén Regency xanh, chén Regency hồng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679192"/>
            <a:ext cx="4206240" cy="914400"/>
          </a:xfrm>
          <a:prstGeom prst="roundRect">
            <a:avLst>
              <a:gd name="adj" fmla="val 7000"/>
            </a:avLst>
          </a:prstGeom>
          <a:solidFill>
            <a:srgbClr val="F4F7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8163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30723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Chén Regency xanh, chén Regency hồng, túi Jumbo đỏ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758184"/>
            <a:ext cx="4206240" cy="914400"/>
          </a:xfrm>
          <a:prstGeom prst="roundRect">
            <a:avLst>
              <a:gd name="adj" fmla="val 7000"/>
            </a:avLst>
          </a:prstGeom>
          <a:solidFill>
            <a:srgbClr val="F4F7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38953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" y="41513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Chén Regency hồng, túi Jumbo đỏ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83480" y="2651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phá luật kết hợp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3017520"/>
            <a:ext cx="2377440" cy="0"/>
          </a:xfrm>
          <a:prstGeom prst="line">
            <a:avLst/>
          </a:prstGeom>
          <a:noFill/>
          <a:ln w="3175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60920" y="1783080"/>
            <a:ext cx="4297680" cy="2651760"/>
          </a:xfrm>
          <a:prstGeom prst="roundRect">
            <a:avLst>
              <a:gd name="adj" fmla="val 2414"/>
            </a:avLst>
          </a:prstGeom>
          <a:solidFill>
            <a:srgbClr val="E8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20116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Chén Regency hồng</a:t>
            </a:r>
            <a:endParaRPr lang="en-US" sz="19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Chén Regency xanh</a:t>
            </a:r>
            <a:endParaRPr lang="en-US" sz="190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= 82,5%   lift = 14,5</a:t>
            </a:r>
            <a:endParaRPr lang="en-US" sz="190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(luật thật từ dữ liệu Online Retail)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02920" y="534924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giai đoạn khai phá:  </a:t>
            </a:r>
            <a:pPr indent="0" marL="0">
              <a:buNone/>
            </a:pPr>
            <a:r>
              <a:rPr lang="en-US" sz="15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tìm tập phổ biến — nút thắt tính toán   </a:t>
            </a:r>
            <a:pPr indent="0" marL="0">
              <a:buNone/>
            </a:pPr>
            <a:r>
              <a:rPr lang="en-US" sz="15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sinh luật từ tập phổ biến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minh họa: 202 luật khai phá được từ 16.406 giỏ hàng (Chương 3 báo cáo)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03152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độ đo đánh giá một luật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3566160" cy="3657600"/>
          </a:xfrm>
          <a:prstGeom prst="roundRect">
            <a:avLst>
              <a:gd name="adj" fmla="val 1795"/>
            </a:avLst>
          </a:prstGeom>
          <a:solidFill>
            <a:srgbClr val="E8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— độ hỗ trợ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sup(X→Y) = |T(X ∪ Y)| / |T|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xuất hiện trong bao nhiêu % số giỏ hàng?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thực nghiệm: 2% (≈ 328 giỏ)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25112" y="1554480"/>
            <a:ext cx="3566160" cy="3657600"/>
          </a:xfrm>
          <a:prstGeom prst="roundRect">
            <a:avLst>
              <a:gd name="adj" fmla="val 1795"/>
            </a:avLst>
          </a:prstGeom>
          <a:solidFill>
            <a:srgbClr val="E8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828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— độ tin cậy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553712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conf(X→Y) = sup(X ∪ Y) / sup(X)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53712" y="32918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các giỏ có X, bao nhiêu % có thêm Y?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thực nghiệm: 35%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47304" y="1554480"/>
            <a:ext cx="3566160" cy="3657600"/>
          </a:xfrm>
          <a:prstGeom prst="roundRect">
            <a:avLst>
              <a:gd name="adj" fmla="val 1795"/>
            </a:avLst>
          </a:prstGeom>
          <a:solidFill>
            <a:srgbClr val="FDF1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75904" y="1828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— độ nâng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375904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lift(X→Y) = conf(X→Y) / sup(Y)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75904" y="32918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và Y có tương quan thật không?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&gt; 1: tương quan dương — ngưỡng: ≥ 1,2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548640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ý: confidence cao chưa chắc có ý nghĩa nếu lift ≤ 1 (hai mặt hàng độc lập) — vì vậy lọc luật bằng cả ba ngưỡng.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03152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thuật toán — ba cách tiếp cận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vai theo đúng yêu cầu rubric của đề tài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66160" cy="4160520"/>
          </a:xfrm>
          <a:prstGeom prst="roundRect">
            <a:avLst>
              <a:gd name="adj" fmla="val 1795"/>
            </a:avLst>
          </a:prstGeom>
          <a:solidFill>
            <a:srgbClr val="F4F7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học — chuẩn so sánh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Vét toàn bộ 2^m − 1 tập con, quét đếm từng tập.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phức tạp mũ — chỉ hợp cho dữ liệu nhỏ.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4206240"/>
            <a:ext cx="3108960" cy="0"/>
          </a:xfrm>
          <a:prstGeom prst="line">
            <a:avLst/>
          </a:prstGeom>
          <a:noFill/>
          <a:ln w="9525">
            <a:solidFill>
              <a:srgbClr val="C9D6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3434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cài đặt, truy vết từng bước, kiểm chứng tính đúng đắn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1554480"/>
            <a:ext cx="3566160" cy="4160520"/>
          </a:xfrm>
          <a:prstGeom prst="roundRect">
            <a:avLst>
              <a:gd name="adj" fmla="val 1795"/>
            </a:avLst>
          </a:prstGeom>
          <a:solidFill>
            <a:srgbClr val="E8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53712" y="2240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học — trọng tâm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53712" y="26974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sinh ứng viên cấp k → prune cắt ứng viên có tập con không phổ biến → quét đếm.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53712" y="4206240"/>
            <a:ext cx="3108960" cy="0"/>
          </a:xfrm>
          <a:prstGeom prst="line">
            <a:avLst/>
          </a:prstGeom>
          <a:noFill/>
          <a:ln w="9525">
            <a:solidFill>
              <a:srgbClr val="C9D6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43434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hoàn chỉnh bằng Python, minh họa từng bước trên dữ liệu mẫu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47304" y="1554480"/>
            <a:ext cx="3566160" cy="4160520"/>
          </a:xfrm>
          <a:prstGeom prst="roundRect">
            <a:avLst>
              <a:gd name="adj" fmla="val 1795"/>
            </a:avLst>
          </a:prstGeom>
          <a:solidFill>
            <a:srgbClr val="FDF1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5904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FP-Growth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75904" y="2240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học — thư viện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75904" y="26974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cây FP chỉ với 2 lần quét, khai phá đệ quy không sinh ứng viên.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375904" y="4206240"/>
            <a:ext cx="3108960" cy="0"/>
          </a:xfrm>
          <a:prstGeom prst="line">
            <a:avLst/>
          </a:prstGeom>
          <a:noFill/>
          <a:ln w="9525">
            <a:solidFill>
              <a:srgbClr val="C9D6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5904" y="43434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qua mlxtend; dùng làm kiểm chứng chéo với Apriori tự viết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03152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chạy từng bước trên dữ liệu mẫu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giao dịch, 5 mặt hàng (I1–I5), min_support = 2/9 — theo ví dụ giáo trình Han &amp; Kamber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74980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51560"/>
                <a:gridCol w="1051560"/>
                <a:gridCol w="100584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Cấp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sinh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Prune cắt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Quét đếm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Tập phổ biến tìm được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I1, I2, I3, I4, I5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cặp: I1I2(4), I1I3(4), I1I5(2), I2I3(4), I2I4(2), I2I5(2)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I1I2I3(2), I1I2I5(2)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(cắt toàn bộ)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600200"/>
            <a:ext cx="3337560" cy="3017520"/>
          </a:xfrm>
          <a:prstGeom prst="roundRect">
            <a:avLst>
              <a:gd name="adj" fmla="val 2121"/>
            </a:avLst>
          </a:prstGeom>
          <a:solidFill>
            <a:srgbClr val="E8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49640" y="182880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Sức mạnh của prune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3: 6 ứng viên sinh ra, 4 bị cắt ngay vì chứa tập con không phổ biến ({I3,I5} chỉ xuất hiện 1 lần).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còn 2 ứng viên phải quét đếm — giảm 67% công việc.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321040" y="4800600"/>
            <a:ext cx="3337560" cy="1234440"/>
          </a:xfrm>
          <a:prstGeom prst="roundRect">
            <a:avLst>
              <a:gd name="adj" fmla="val 5185"/>
            </a:avLst>
          </a:prstGeom>
          <a:solidFill>
            <a:srgbClr val="FDF1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4956048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cùng dữ liệu: </a:t>
            </a:r>
            <a:pPr indent="0" marL="0"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đếm 30 ứng viên — hơn 76% so với Apriori (17).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03152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được kiểm chứng ba lớp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508760"/>
            <a:ext cx="11155680" cy="1389888"/>
          </a:xfrm>
          <a:prstGeom prst="roundRect">
            <a:avLst>
              <a:gd name="adj" fmla="val 4605"/>
            </a:avLst>
          </a:prstGeom>
          <a:solidFill>
            <a:srgbClr val="E8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0136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16733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Khớp giáo trình — 100%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207568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L1, L2 (6 cặp), L3 {I1,I2,I3}, {I1,I2,I5} trùng khớp hoàn toàn đáp án chuẩn của Han &amp; Kamber trên dữ liệu mẫu 9 giao dịch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235440" y="16733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chứng 2 thuật toán tự cài đặt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081528"/>
            <a:ext cx="11155680" cy="1389888"/>
          </a:xfrm>
          <a:prstGeom prst="roundRect">
            <a:avLst>
              <a:gd name="adj" fmla="val 4605"/>
            </a:avLst>
          </a:prstGeom>
          <a:solidFill>
            <a:srgbClr val="E8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7413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63040" y="32461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Khớp FP-Growth — 100%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3648456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Ở cả 5 mức min_support (6% → 1,5%): số tập phổ biến của Apriori tự viết ≡ FP-Growth mlxtend (26 / 87 / 181 / 483 / 943)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235440" y="32461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chứng chéo hai cài đặt độc lập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654296"/>
            <a:ext cx="11155680" cy="1389888"/>
          </a:xfrm>
          <a:prstGeom prst="roundRect">
            <a:avLst>
              <a:gd name="adj" fmla="val 4605"/>
            </a:avLst>
          </a:prstGeom>
          <a:solidFill>
            <a:srgbClr val="FDF1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94690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463040" y="48188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Khớp bộ luật — 100%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63040" y="5221224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 luật trên dữ liệu thực sinh bởi chương trình tự viết trùng khớp từng cặp với thư viện mlxtend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235440" y="48188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chứng bước sinh luật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03152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thực nghiệm trên dữ liệu thật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dữ liệu Online Retail (UCI): cửa hàng bán lẻ trực tuyến Anh, 12/2010 – 12/2011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057400" cy="1783080"/>
          </a:xfrm>
          <a:prstGeom prst="roundRect">
            <a:avLst>
              <a:gd name="adj" fmla="val 3590"/>
            </a:avLst>
          </a:prstGeom>
          <a:solidFill>
            <a:srgbClr val="E8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84708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30936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gốc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0936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541.909 dòng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thuộc tính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78608" y="2624328"/>
            <a:ext cx="201168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98064" y="1737360"/>
            <a:ext cx="2057400" cy="1783080"/>
          </a:xfrm>
          <a:prstGeom prst="roundRect">
            <a:avLst>
              <a:gd name="adj" fmla="val 3590"/>
            </a:avLst>
          </a:prstGeom>
          <a:solidFill>
            <a:srgbClr val="E8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84708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2608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sạch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92608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527.634 dòng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đơn hủy, giá trị ≤ 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73752" y="2624328"/>
            <a:ext cx="201168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93208" y="1737360"/>
            <a:ext cx="2057400" cy="1783080"/>
          </a:xfrm>
          <a:prstGeom prst="roundRect">
            <a:avLst>
              <a:gd name="adj" fmla="val 3590"/>
            </a:avLst>
          </a:prstGeom>
          <a:solidFill>
            <a:srgbClr val="E8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1224" y="184708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221224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Anh Quốc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221224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91,7% dữ liệu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17.901 giỏ hàng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68896" y="2624328"/>
            <a:ext cx="201168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88352" y="1737360"/>
            <a:ext cx="2057400" cy="1783080"/>
          </a:xfrm>
          <a:prstGeom prst="roundRect">
            <a:avLst>
              <a:gd name="adj" fmla="val 3590"/>
            </a:avLst>
          </a:prstGeom>
          <a:solidFill>
            <a:srgbClr val="E8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16368" y="184708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516368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giỏ hàng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16368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16.406 giỏ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2.530 mặt hàng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64040" y="2624328"/>
            <a:ext cx="201168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83496" y="1737360"/>
            <a:ext cx="2057400" cy="1783080"/>
          </a:xfrm>
          <a:prstGeom prst="roundRect">
            <a:avLst>
              <a:gd name="adj" fmla="val 3590"/>
            </a:avLst>
          </a:prstGeom>
          <a:solidFill>
            <a:srgbClr val="FDF1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11512" y="184708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811512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phá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811512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+ FP-Growth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min_support = 2%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4069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16.406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502920" y="48006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 sau lọc (mặt hàng xuất hiện ≥ 30 giỏ, giỏ ≥ 2 mặt hàng)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325112" y="4069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4325112" y="48006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mặt hàng là trung vị mỗi giỏ — đơn sỉ có tới hàng trăm mặt hàng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47304" y="4069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91,7%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8147304" y="48006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dịch thuộc thị trường Anh — đủ dữ liệu cho ngưỡng thống nhất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UCI Machine Learning Repository — Online Retail Data Set (dataset 352)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503152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 phá dữ liệu: bán chạy và tính mùa vụ</a:t>
            </a:r>
            <a:endParaRPr lang="en-US" sz="3000" dirty="0"/>
          </a:p>
        </p:txBody>
      </p:sp>
      <p:pic>
        <p:nvPicPr>
          <p:cNvPr id="3" name="Image 0" descr="/home/thanh/.zcode/workspace/default/doan19_association_rules/hinh_anh/fig01_top_san_ph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5623560" cy="2518073"/>
          </a:xfrm>
          <a:prstGeom prst="rect">
            <a:avLst/>
          </a:prstGeom>
        </p:spPr>
      </p:pic>
      <p:pic>
        <p:nvPicPr>
          <p:cNvPr id="4" name="Image 1" descr="/home/thanh/.zcode/workspace/default/doan19_association_rules/hinh_anh/fig02_don_hang_theo_tha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257800" cy="2795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920" y="4487178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dẫn đầu đều là đồ trang trí giá nhỏ, mua thường xuyên: đế đèn treo WHITE HANGING HEART (2.162 đơn), túi JUMBO BAG RED RETROSPOT (1.935 đơn).</a:t>
            </a:r>
            <a:endParaRPr lang="en-US" sz="1350" dirty="0"/>
          </a:p>
          <a:p>
            <a:pPr marL="152400" indent="-152400">
              <a:buSzPct val="100000"/>
              <a:buChar char="▸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số mùa vụ rõ rệt: đỉnh tháng 11 (gần 2.500 đơn) trước Giáng sinh — dữ liệu quà tặng điển hình.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11503152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khai phá: 483 tập phổ biến, 202 luật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min_support = 2%  •  min_confidence = 35%  •  min_lift = 1,2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66160" cy="2880360"/>
          </a:xfrm>
          <a:prstGeom prst="roundRect">
            <a:avLst>
              <a:gd name="adj" fmla="val 2222"/>
            </a:avLst>
          </a:prstGeom>
          <a:solidFill>
            <a:srgbClr val="E8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483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phổ biến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353 tập 1 mặt hàng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tập 2 mặt hàng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tập 3 mặt hàng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600200"/>
            <a:ext cx="3566160" cy="2880360"/>
          </a:xfrm>
          <a:prstGeom prst="roundRect">
            <a:avLst>
              <a:gd name="adj" fmla="val 2222"/>
            </a:avLst>
          </a:prstGeom>
          <a:solidFill>
            <a:srgbClr val="FDF1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8288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53712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kết hợp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3712" y="3246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 3 ngưỡng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≥ 35%, lift ≥ 1,2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khớp 100% với mlxtend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47304" y="1600200"/>
            <a:ext cx="3566160" cy="2880360"/>
          </a:xfrm>
          <a:prstGeom prst="roundRect">
            <a:avLst>
              <a:gd name="adj" fmla="val 2222"/>
            </a:avLst>
          </a:prstGeom>
          <a:solidFill>
            <a:srgbClr val="E8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18288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25,06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375904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cao nhất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75904" y="3246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cặp bát kẹo hai màu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 cùng nhau gấp 25 lần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độc lập</a:t>
            </a:r>
            <a:endParaRPr lang="en-US" sz="1250" dirty="0"/>
          </a:p>
        </p:txBody>
      </p:sp>
      <p:pic>
        <p:nvPicPr>
          <p:cNvPr id="16" name="Image 0" descr="/home/thanh/.zcode/workspace/default/doan19_association_rules/hinh_anh/fig05_tap_pho_bien_theo_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4590288"/>
            <a:ext cx="3840480" cy="226535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503152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luật tiêu biểu — cùng dòng sản phẩm mua cùng nhau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7406640" cy="914400"/>
        </p:xfrm>
        <a:graphic>
          <a:graphicData uri="http://schemas.openxmlformats.org/drawingml/2006/table">
            <a:tbl>
              <a:tblPr/>
              <a:tblGrid>
                <a:gridCol w="5394960"/>
                <a:gridCol w="868680"/>
                <a:gridCol w="11430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Luật kết hợp (tên rút gọn)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Chén Regency xanh + chén Regency hoa hồng → chén Regency hồng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Chén Regency xanh + chén Regency hồng → chén Regency hoa hồng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Chén Regency xanh → chén Regency hồng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Bát Marshmallow hồng → bát Dolly Mix cam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Sao gỗ Noel Bắc Âu → tim gỗ Noel Bắc Âu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Túi sưởi tay họa tiết chó Scotty → túi sưởi tay họa tiết cú mèo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83880" y="1554480"/>
            <a:ext cx="3520440" cy="3108960"/>
          </a:xfrm>
          <a:prstGeom prst="roundRect">
            <a:avLst>
              <a:gd name="adj" fmla="val 2059"/>
            </a:avLst>
          </a:prstGeom>
          <a:solidFill>
            <a:srgbClr val="E8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12480" y="178308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một bức tranh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mua nhiều biến thể của cùng dòng sản phẩm: đủ bộ 3 màu chén Regency, cặp sao–tim gỗ, hai họa tiết túi sưởi…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Tâm lý “sưu tầm trọn bộ” rất rõ.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luật đầy đủ (15 luật × 2 thứ hạng) trong báo cáo — Bảng 3.3 và Phụ lục.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03152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quan hóa 202 luật</a:t>
            </a:r>
            <a:endParaRPr lang="en-US" sz="3000" dirty="0"/>
          </a:p>
        </p:txBody>
      </p:sp>
      <p:pic>
        <p:nvPicPr>
          <p:cNvPr id="3" name="Image 0" descr="/home/thanh/.zcode/workspace/default/doan19_association_rules/hinh_anh/fig06_scatter_lu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5486400" cy="3992691"/>
          </a:xfrm>
          <a:prstGeom prst="rect">
            <a:avLst/>
          </a:prstGeom>
        </p:spPr>
      </p:pic>
      <p:pic>
        <p:nvPicPr>
          <p:cNvPr id="4" name="Image 1" descr="/home/thanh/.zcode/workspace/default/doan19_association_rules/hinh_anh/fig08_heatmap_lu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08760"/>
            <a:ext cx="5486400" cy="36099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920" y="525780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lift cao nằm ở vùng support thấp — confidence cao (màu sáng).</a:t>
            </a:r>
            <a:endParaRPr lang="en-US" sz="1350" dirty="0"/>
          </a:p>
          <a:p>
            <a:pPr marL="152400" indent="-152400">
              <a:buSzPct val="100000"/>
              <a:buChar char="▸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cụm sản phẩm tương quan chặt: bộ chén Regency, nhóm túi Jumbo/Lunch bag, hàng Noel Bắc Âu.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11503152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hiệu năng ba thuật toán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khai phá (giây) theo min_support — Python 3.12, dữ liệu 16.406 giỏ × 2.530 mặt hàng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5448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54480"/>
            <a:ext cx="3886200" cy="4206240"/>
          </a:xfrm>
          <a:prstGeom prst="roundRect">
            <a:avLst>
              <a:gd name="adj" fmla="val 1647"/>
            </a:avLst>
          </a:prstGeom>
          <a:solidFill>
            <a:srgbClr val="E8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92440" y="1783080"/>
            <a:ext cx="3383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 ngờ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tự cài đặt chạy nhanh nhất ở hầu hết ngưỡng (1,60s so với 2,29s và 2,37s tại 2%).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nhân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Đếm hỗ trợ bằng chỉ mục ngược (item → danh sách giao dịch) + phép giao tập: chỉ chạm đúng giao dịch liên quan, không quét ma trận dày đặc.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Cấu trúc dữ liệu quan trọng không kém thuật toán.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638251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liệu: Bảng 3.2 báo cáo — mỗi giá trị là thời gian chạy một lần của từng thuật toán trên cùng dữ liệu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503152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luật đến hành động kinh doanh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11155680" cy="1389888"/>
          </a:xfrm>
          <a:prstGeom prst="roundRect">
            <a:avLst>
              <a:gd name="adj" fmla="val 4605"/>
            </a:avLst>
          </a:prstGeom>
          <a:solidFill>
            <a:srgbClr val="F4F7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0078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“hoàn thiện bộ sưu tập”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xem 1 màu chén Regency → đề xuất ngay 2 màu còn lại. Confidence tới 90% khi đã có 2/3 bộ.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0" y="21031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mua kèm 1-click trên web, email gợi ý sau đơn hàng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127248"/>
            <a:ext cx="11155680" cy="1389888"/>
          </a:xfrm>
          <a:prstGeom prst="roundRect">
            <a:avLst>
              <a:gd name="adj" fmla="val 4605"/>
            </a:avLst>
          </a:prstGeom>
          <a:solidFill>
            <a:srgbClr val="E8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735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và trưng bày liên quan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77240" y="367588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Cụm túi Jumbo/Lunch bag có support cao nhất (2–4%), lift 3,6–7,6.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36758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Gói 2–3 túi khác mẫu; trưng bày liền kề tại kho và trên web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700016"/>
            <a:ext cx="11155680" cy="1389888"/>
          </a:xfrm>
          <a:prstGeom prst="roundRect">
            <a:avLst>
              <a:gd name="adj" fmla="val 4605"/>
            </a:avLst>
          </a:prstGeom>
          <a:solidFill>
            <a:srgbClr val="F4F7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8463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 theo mùa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77240" y="5248656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sao–tim gỗ lift 24,8; doanh số đỉnh tháng 11.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80960" y="52486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tháng 9–10 gom gian hàng Noel, nhập tồn theo cụm liên quan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03152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120640" cy="5120640"/>
          </a:xfrm>
          <a:prstGeom prst="ellipse">
            <a:avLst/>
          </a:prstGeom>
          <a:solidFill>
            <a:srgbClr val="1F5FA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772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74520" y="1810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74520" y="21945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hoàn chỉnh Brute-force + Apriori — khớp 100% giáo trình; FP-Growth ứng dụng qua mlxtend — kiểm chứng chéo khớp 100% ở mọi ngưỡng.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0815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7452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nghiệm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74520" y="349300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trọn vẹn trên 541.909 dòng thật: 16.406 giỏ hàng → 483 tập phổ biến → 202 luật chất lượng, trực quan hóa đa góc nhìn.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37997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874520" y="4407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74520" y="4791456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nhóm hành động kinh doanh: gợi ý hoàn thiện bộ sưu tập, combo/trưng bày cụm túi, vận hành mùa vụ — nền tảng hệ thống gợi ý sản phẩm.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5897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triển: tự cài đặt cây FP  •  khai phá luật theo phân khúc RFM  •  tích hợp luật vào web gợi ý sản phẩm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63550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thầy/cô và các bạn đã lắng nghe!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Ứng dụng khai phá luật kết hợp phân tích hành vi mua sắm</dc:title>
  <dc:subject>PptxGenJS Presentation</dc:subject>
  <dc:creator>Sinh viên</dc:creator>
  <cp:lastModifiedBy>Sinh viên</cp:lastModifiedBy>
  <cp:revision>1</cp:revision>
  <dcterms:created xsi:type="dcterms:W3CDTF">2026-09-16T17:17:59Z</dcterms:created>
  <dcterms:modified xsi:type="dcterms:W3CDTF">2026-09-16T17:17:59Z</dcterms:modified>
</cp:coreProperties>
</file>